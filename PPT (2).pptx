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  <p:sldId id="270" r:id="rId11"/>
    <p:sldId id="266" r:id="rId12"/>
    <p:sldId id="267" r:id="rId13"/>
    <p:sldId id="268" r:id="rId14"/>
    <p:sldId id="271" r:id="rId15"/>
    <p:sldId id="272" r:id="rId16"/>
    <p:sldId id="265" r:id="rId17"/>
    <p:sldId id="264" r:id="rId18"/>
    <p:sldId id="269" r:id="rId1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7"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6471" autoAdjust="0"/>
    <p:restoredTop sz="94624" autoAdjust="0"/>
  </p:normalViewPr>
  <p:slideViewPr>
    <p:cSldViewPr showGuides="1">
      <p:cViewPr>
        <p:scale>
          <a:sx n="75" d="100"/>
          <a:sy n="75" d="100"/>
        </p:scale>
        <p:origin x="-1656" y="402"/>
      </p:cViewPr>
      <p:guideLst>
        <p:guide orient="horz" pos="2906"/>
        <p:guide pos="2160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6866" y="1550161"/>
            <a:ext cx="529335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4126" y="2441396"/>
            <a:ext cx="4700905" cy="3439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9833" y="623061"/>
            <a:ext cx="9319895" cy="98044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741170" marR="5080" indent="-1728470">
              <a:lnSpc>
                <a:spcPct val="74000"/>
              </a:lnSpc>
              <a:spcBef>
                <a:spcPts val="1220"/>
              </a:spcBef>
              <a:tabLst>
                <a:tab pos="3665220" algn="l"/>
              </a:tabLst>
            </a:pPr>
            <a:r>
              <a:rPr b="1" spc="-10" dirty="0">
                <a:latin typeface="Times New Roman" panose="02020603050405020304"/>
                <a:cs typeface="Times New Roman" panose="02020603050405020304"/>
              </a:rPr>
              <a:t>GOVERNMENT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COLLEGE </a:t>
            </a:r>
            <a:r>
              <a:rPr b="1" spc="-50" dirty="0">
                <a:latin typeface="Times New Roman" panose="02020603050405020304"/>
                <a:cs typeface="Times New Roman" panose="02020603050405020304"/>
              </a:rPr>
              <a:t>HUVINAHADAGALI-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583219</a:t>
            </a:r>
            <a:endParaRPr b="1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524000"/>
            <a:ext cx="8742680" cy="29642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40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ELECTRONICS</a:t>
            </a:r>
            <a:r>
              <a:rPr sz="2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COMMUNICATION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945"/>
              </a:spcBef>
            </a:pP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R="80645" algn="ctr">
              <a:lnSpc>
                <a:spcPts val="1730"/>
              </a:lnSpc>
            </a:pPr>
            <a:endParaRPr lang="en-GB" sz="1450" dirty="0" smtClean="0">
              <a:latin typeface="Times New Roman" panose="02020603050405020304"/>
              <a:cs typeface="Times New Roman" panose="02020603050405020304"/>
            </a:endParaRPr>
          </a:p>
          <a:p>
            <a:pPr marR="80645" algn="ctr">
              <a:lnSpc>
                <a:spcPts val="1730"/>
              </a:lnSpc>
            </a:pPr>
            <a:endParaRPr lang="en-GB" sz="1450" dirty="0">
              <a:latin typeface="Times New Roman" panose="02020603050405020304"/>
              <a:cs typeface="Times New Roman" panose="02020603050405020304"/>
            </a:endParaRPr>
          </a:p>
          <a:p>
            <a:pPr marR="80645" algn="ctr">
              <a:lnSpc>
                <a:spcPts val="1730"/>
              </a:lnSpc>
            </a:pPr>
            <a:endParaRPr lang="en-GB" sz="1450" dirty="0" smtClean="0">
              <a:latin typeface="Times New Roman" panose="02020603050405020304"/>
              <a:cs typeface="Times New Roman" panose="02020603050405020304"/>
            </a:endParaRPr>
          </a:p>
          <a:p>
            <a:pPr marR="80645" algn="ctr">
              <a:lnSpc>
                <a:spcPts val="1730"/>
              </a:lnSpc>
            </a:pPr>
            <a:endParaRPr lang="en-GB" sz="1450" dirty="0">
              <a:latin typeface="Times New Roman" panose="02020603050405020304"/>
              <a:cs typeface="Times New Roman" panose="02020603050405020304"/>
            </a:endParaRPr>
          </a:p>
          <a:p>
            <a:pPr marR="80645" algn="ctr">
              <a:lnSpc>
                <a:spcPts val="1730"/>
              </a:lnSpc>
            </a:pPr>
            <a:r>
              <a:rPr sz="1450" smtClean="0">
                <a:latin typeface="Times New Roman" panose="02020603050405020304"/>
                <a:cs typeface="Times New Roman" panose="02020603050405020304"/>
              </a:rPr>
              <a:t>MINI</a:t>
            </a:r>
            <a:r>
              <a:rPr sz="1450" spc="55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mtClean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1450" spc="-3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50" spc="-25" smtClean="0">
                <a:latin typeface="Times New Roman" panose="02020603050405020304"/>
                <a:cs typeface="Times New Roman" panose="02020603050405020304"/>
              </a:rPr>
              <a:t>ON</a:t>
            </a:r>
            <a:endParaRPr sz="1450">
              <a:latin typeface="Times New Roman" panose="02020603050405020304"/>
              <a:cs typeface="Times New Roman" panose="02020603050405020304"/>
            </a:endParaRPr>
          </a:p>
          <a:p>
            <a:pPr marL="173990" marR="292735" algn="ctr">
              <a:lnSpc>
                <a:spcPts val="2520"/>
              </a:lnSpc>
              <a:spcBef>
                <a:spcPts val="75"/>
              </a:spcBef>
            </a:pPr>
            <a:r>
              <a:rPr lang="en-GB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“MICROCONTROLLER - BASED</a:t>
            </a:r>
            <a:r>
              <a:rPr sz="2100" b="1" spc="-9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spc="-2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</a:t>
            </a:r>
            <a:r>
              <a:rPr sz="2100" b="1" spc="-2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dirty="0">
                <a:latin typeface="Times New Roman" panose="02020603050405020304"/>
                <a:cs typeface="Times New Roman" panose="02020603050405020304"/>
              </a:rPr>
              <a:t>CLASSROOM</a:t>
            </a:r>
            <a:r>
              <a:rPr sz="21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spc="-20" dirty="0">
                <a:latin typeface="Times New Roman" panose="02020603050405020304"/>
                <a:cs typeface="Times New Roman" panose="02020603050405020304"/>
              </a:rPr>
              <a:t>DOOR CONTROL</a:t>
            </a:r>
            <a:r>
              <a:rPr sz="21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100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1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100" b="1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b="1" spc="-10" smtClean="0"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lang="en-GB" sz="2100" b="1" spc="-10" dirty="0" smtClean="0">
                <a:latin typeface="Times New Roman" panose="02020603050405020304"/>
                <a:cs typeface="Times New Roman" panose="02020603050405020304"/>
              </a:rPr>
              <a:t>’’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R="119380" algn="ctr">
              <a:lnSpc>
                <a:spcPct val="100000"/>
              </a:lnSpc>
            </a:pPr>
            <a:r>
              <a:rPr sz="1900" smtClean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900" spc="-3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5027" y="4688078"/>
            <a:ext cx="109537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Anusha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Netra</a:t>
            </a:r>
            <a:r>
              <a:rPr sz="19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9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K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Pallavi</a:t>
            </a:r>
            <a:r>
              <a:rPr sz="19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P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Shwetha</a:t>
            </a:r>
            <a:r>
              <a:rPr sz="19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R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3961" y="4693158"/>
            <a:ext cx="1402080" cy="1209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2GB24EC005</a:t>
            </a: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2GB24EC032</a:t>
            </a: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32385">
              <a:lnSpc>
                <a:spcPct val="100000"/>
              </a:lnSpc>
            </a:pP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2GB24EC035</a:t>
            </a:r>
            <a:endParaRPr sz="19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spc="-10" dirty="0">
                <a:latin typeface="Times New Roman" panose="02020603050405020304"/>
                <a:cs typeface="Times New Roman" panose="02020603050405020304"/>
              </a:rPr>
              <a:t>2GB24EC045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4200" y="6019800"/>
            <a:ext cx="3340100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smtClean="0">
                <a:latin typeface="Times New Roman" panose="02020603050405020304"/>
                <a:cs typeface="Times New Roman" panose="02020603050405020304"/>
              </a:rPr>
              <a:t>UNDERTHEGUIDENCEOF</a:t>
            </a:r>
            <a:endParaRPr sz="2100" smtClean="0">
              <a:latin typeface="Times New Roman" panose="02020603050405020304"/>
              <a:cs typeface="Times New Roman" panose="02020603050405020304"/>
            </a:endParaRPr>
          </a:p>
          <a:p>
            <a:pPr marL="1122045">
              <a:lnSpc>
                <a:spcPct val="100000"/>
              </a:lnSpc>
              <a:spcBef>
                <a:spcPts val="55"/>
              </a:spcBef>
            </a:pPr>
            <a:r>
              <a:rPr sz="2100" b="1" spc="-10" smtClean="0">
                <a:latin typeface="Times New Roman" panose="02020603050405020304"/>
                <a:cs typeface="Times New Roman" panose="02020603050405020304"/>
              </a:rPr>
              <a:t>RAVINAIKR</a:t>
            </a:r>
            <a:endParaRPr sz="2100" smtClean="0">
              <a:latin typeface="Times New Roman" panose="02020603050405020304"/>
              <a:cs typeface="Times New Roman" panose="02020603050405020304"/>
            </a:endParaRPr>
          </a:p>
          <a:p>
            <a:pPr marL="563880">
              <a:lnSpc>
                <a:spcPct val="100000"/>
              </a:lnSpc>
              <a:spcBef>
                <a:spcPts val="160"/>
              </a:spcBef>
            </a:pPr>
            <a:r>
              <a:rPr sz="1900" b="1" smtClean="0">
                <a:latin typeface="Times New Roman" panose="02020603050405020304"/>
                <a:cs typeface="Times New Roman" panose="02020603050405020304"/>
              </a:rPr>
              <a:t>Asst</a:t>
            </a:r>
            <a:r>
              <a:rPr sz="1900" b="1" spc="-3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b="1" dirty="0">
                <a:latin typeface="Times New Roman" panose="02020603050405020304"/>
                <a:cs typeface="Times New Roman" panose="02020603050405020304"/>
              </a:rPr>
              <a:t>Prof.</a:t>
            </a:r>
            <a:r>
              <a:rPr sz="19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b="1" dirty="0">
                <a:latin typeface="Times New Roman" panose="02020603050405020304"/>
                <a:cs typeface="Times New Roman" panose="02020603050405020304"/>
              </a:rPr>
              <a:t>Dept</a:t>
            </a:r>
            <a:r>
              <a:rPr sz="19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900" b="1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b="1" spc="-25" dirty="0">
                <a:latin typeface="Times New Roman" panose="02020603050405020304"/>
                <a:cs typeface="Times New Roman" panose="02020603050405020304"/>
              </a:rPr>
              <a:t>ECE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Picture 2" descr="https://i0.wp.com/sjbit.edu.in/wp-content/uploads/2021/07/VTU-Logo-250x250-1.png?ssl=1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10000" y="1905000"/>
            <a:ext cx="2381250" cy="1371601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8260" y="2938525"/>
            <a:ext cx="743267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44450" algn="ctr">
              <a:lnSpc>
                <a:spcPct val="100000"/>
              </a:lnSpc>
              <a:spcBef>
                <a:spcPts val="100"/>
              </a:spcBef>
            </a:pPr>
            <a:r>
              <a:rPr lang="en-GB" b="1" spc="-10" dirty="0" smtClean="0">
                <a:latin typeface="Times New Roman" panose="02020603050405020304"/>
                <a:cs typeface="Times New Roman" panose="02020603050405020304"/>
              </a:rPr>
              <a:t>MICROCONTROLLER - BASED</a:t>
            </a:r>
            <a:r>
              <a:rPr b="1" spc="-1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5" dirty="0">
                <a:latin typeface="Times New Roman" panose="02020603050405020304"/>
                <a:cs typeface="Times New Roman" panose="02020603050405020304"/>
              </a:rPr>
              <a:t>AUTOMATIC</a:t>
            </a:r>
            <a:r>
              <a:rPr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CLASSROOM</a:t>
            </a:r>
            <a:r>
              <a:rPr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DOOR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b="1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b="1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2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b="1" spc="-1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62200" y="1143000"/>
            <a:ext cx="5293359" cy="5740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8675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CONTENTS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828800"/>
            <a:ext cx="4114547" cy="8630568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98755" indent="-186055">
              <a:lnSpc>
                <a:spcPct val="100000"/>
              </a:lnSpc>
              <a:spcBef>
                <a:spcPts val="1700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0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sz="2400" spc="-10" smtClean="0">
                <a:latin typeface="Times New Roman" panose="02020603050405020304"/>
                <a:cs typeface="Times New Roman" panose="02020603050405020304"/>
              </a:rPr>
              <a:t>Objectives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sz="240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2400" spc="15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10" smtClean="0">
                <a:latin typeface="Times New Roman" panose="02020603050405020304"/>
                <a:cs typeface="Times New Roman" panose="02020603050405020304"/>
              </a:rPr>
              <a:t>Survey</a:t>
            </a: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lang="en-GB" sz="2400" spc="-10" dirty="0" smtClean="0">
                <a:latin typeface="Times New Roman" panose="02020603050405020304"/>
                <a:cs typeface="Times New Roman" panose="02020603050405020304"/>
              </a:rPr>
              <a:t>Methodology </a:t>
            </a: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lang="en-GB" sz="2400" spc="-10" dirty="0" smtClean="0">
                <a:latin typeface="Times New Roman" panose="02020603050405020304"/>
                <a:cs typeface="Times New Roman" panose="02020603050405020304"/>
              </a:rPr>
              <a:t>Component required</a:t>
            </a: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lang="en-GB" sz="2400" spc="-10" dirty="0" smtClean="0">
                <a:latin typeface="Times New Roman" panose="02020603050405020304"/>
                <a:cs typeface="Times New Roman" panose="02020603050405020304"/>
              </a:rPr>
              <a:t>Advantages</a:t>
            </a: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lang="en-GB" sz="2400" spc="-10" dirty="0" smtClean="0">
                <a:latin typeface="Times New Roman" panose="02020603050405020304"/>
                <a:cs typeface="Times New Roman" panose="02020603050405020304"/>
              </a:rPr>
              <a:t>Limitations</a:t>
            </a: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lang="en-GB" sz="2400" spc="-10" dirty="0" smtClean="0">
                <a:latin typeface="Times New Roman" panose="02020603050405020304"/>
                <a:cs typeface="Times New Roman" panose="02020603050405020304"/>
              </a:rPr>
              <a:t>Applications</a:t>
            </a: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lang="en-GB" sz="2400" spc="-10" smtClean="0">
                <a:latin typeface="Times New Roman" panose="02020603050405020304"/>
                <a:cs typeface="Times New Roman" panose="02020603050405020304"/>
              </a:rPr>
              <a:t>Result</a:t>
            </a:r>
            <a:endParaRPr lang="en-GB" sz="2400" spc="-1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endParaRPr lang="en-GB" sz="2400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605"/>
              </a:spcBef>
              <a:buFont typeface="Arial" panose="020B0604020202020204"/>
              <a:buChar char="•"/>
              <a:tabLst>
                <a:tab pos="198755" algn="l"/>
              </a:tabLst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98755" indent="-186055">
              <a:lnSpc>
                <a:spcPct val="100000"/>
              </a:lnSpc>
              <a:spcBef>
                <a:spcPts val="1595"/>
              </a:spcBef>
              <a:buFont typeface="Arial" panose="020B0604020202020204"/>
              <a:buChar char="•"/>
              <a:tabLst>
                <a:tab pos="198755" algn="l"/>
              </a:tabLst>
            </a:pP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0353" y="507492"/>
            <a:ext cx="32639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363" y="1298448"/>
            <a:ext cx="8619238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marR="1289685" indent="-18669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201295" algn="l"/>
                <a:tab pos="565785" algn="l"/>
                <a:tab pos="1515745" algn="l"/>
                <a:tab pos="6821170" algn="l"/>
              </a:tabLst>
            </a:pP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institutions,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</a:t>
            </a:r>
            <a:r>
              <a:rPr sz="2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	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punctualityis</a:t>
            </a: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learning.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755" marR="25400" indent="-186690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201295" algn="l"/>
                <a:tab pos="1476375" algn="l"/>
                <a:tab pos="3947795" algn="l"/>
                <a:tab pos="4371340" algn="l"/>
                <a:tab pos="7755255" algn="l"/>
              </a:tabLst>
            </a:pP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22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doors</a:t>
            </a:r>
            <a:r>
              <a:rPr sz="22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manual</a:t>
            </a:r>
            <a:r>
              <a:rPr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operation,</a:t>
            </a:r>
            <a:r>
              <a:rPr sz="2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2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2200" spc="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55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2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entry,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8755" marR="389890" indent="-186690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200025" algn="l"/>
                <a:tab pos="657225" algn="l"/>
                <a:tab pos="2553335" algn="l"/>
                <a:tab pos="3410585" algn="l"/>
                <a:tab pos="3968115" algn="l"/>
                <a:tab pos="6254115" algn="l"/>
              </a:tabLst>
            </a:pP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overcome</a:t>
            </a:r>
            <a:r>
              <a:rPr sz="22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issues,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project</a:t>
            </a:r>
            <a:r>
              <a:rPr sz="22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proposes</a:t>
            </a:r>
            <a:r>
              <a:rPr sz="2200" spc="17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200" spc="-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200" spc="-5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marR="259715" indent="-186690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20066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(such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Arduino)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programmed</a:t>
            </a:r>
            <a:r>
              <a:rPr sz="22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200" spc="-2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</a:t>
            </a:r>
            <a:r>
              <a:rPr lang="en-GB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200" spc="36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</a:t>
            </a:r>
            <a:r>
              <a:rPr sz="2200" spc="36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40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  <a:r>
              <a:rPr sz="2200" spc="38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sz="2200" spc="37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38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sz="2200" spc="36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39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sz="2200" spc="34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sz="2200" spc="36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2200" spc="-6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times.</a:t>
            </a:r>
            <a:endParaRPr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indent="-186690">
              <a:lnSpc>
                <a:spcPct val="100000"/>
              </a:lnSpc>
              <a:spcBef>
                <a:spcPts val="8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2200" spc="27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arriving</a:t>
            </a:r>
            <a:r>
              <a:rPr sz="22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sz="22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</a:t>
            </a:r>
            <a:r>
              <a:rPr sz="22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2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2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</a:t>
            </a:r>
            <a:r>
              <a:rPr sz="22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easily,</a:t>
            </a:r>
            <a:r>
              <a:rPr sz="22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sz="22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4953000"/>
            <a:ext cx="7827009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0205" algn="l"/>
              </a:tabLst>
            </a:pPr>
            <a:r>
              <a:rPr sz="2200">
                <a:latin typeface="Times New Roman" panose="02020603050405020304"/>
                <a:cs typeface="Times New Roman" panose="02020603050405020304"/>
              </a:rPr>
              <a:t>entry</a:t>
            </a:r>
            <a:r>
              <a:rPr sz="2200" spc="25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35" smtClean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lang="en-GB" sz="2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mtClean="0">
                <a:latin typeface="Times New Roman" panose="02020603050405020304"/>
                <a:cs typeface="Times New Roman" panose="02020603050405020304"/>
              </a:rPr>
              <a:t>restricted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thereby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improving</a:t>
            </a:r>
            <a:r>
              <a:rPr sz="22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attendance</a:t>
            </a:r>
            <a:r>
              <a:rPr sz="2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discipline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and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5181600"/>
            <a:ext cx="8246109" cy="895758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class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efficiency.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199390" indent="-186690">
              <a:lnSpc>
                <a:spcPct val="100000"/>
              </a:lnSpc>
              <a:spcBef>
                <a:spcPts val="805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2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automation</a:t>
            </a:r>
            <a:r>
              <a:rPr sz="2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sz="22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human</a:t>
            </a:r>
            <a:r>
              <a:rPr sz="2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effort,</a:t>
            </a:r>
            <a:r>
              <a:rPr sz="22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2200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security,</a:t>
            </a:r>
            <a:r>
              <a:rPr sz="22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2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ensures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6096000"/>
            <a:ext cx="434721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0205" algn="l"/>
              </a:tabLst>
            </a:pPr>
            <a:r>
              <a:rPr lang="en-GB" sz="2200" spc="-10" dirty="0" smtClean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200" spc="-10" smtClean="0">
                <a:latin typeface="Times New Roman" panose="02020603050405020304"/>
                <a:cs typeface="Times New Roman" panose="02020603050405020304"/>
              </a:rPr>
              <a:t>ystematic</a:t>
            </a:r>
            <a:r>
              <a:rPr lang="en-GB" sz="2200" spc="-1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mtClean="0">
                <a:latin typeface="Times New Roman" panose="02020603050405020304"/>
                <a:cs typeface="Times New Roman" panose="02020603050405020304"/>
              </a:rPr>
              <a:t>classroom</a:t>
            </a:r>
            <a:r>
              <a:rPr sz="2200" spc="25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management.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1066800"/>
            <a:ext cx="5232146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mtClean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3300" b="1" spc="-9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3300" b="1" spc="-9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35" smtClean="0">
                <a:latin typeface="Times New Roman" panose="02020603050405020304"/>
                <a:cs typeface="Times New Roman" panose="02020603050405020304"/>
              </a:rPr>
              <a:t>STATEMENT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2374646"/>
            <a:ext cx="8915400" cy="182308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99390" indent="-186690" algn="just">
              <a:lnSpc>
                <a:spcPct val="100000"/>
              </a:lnSpc>
              <a:spcBef>
                <a:spcPts val="145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2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staff</a:t>
            </a:r>
            <a:r>
              <a:rPr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890" indent="-250190" algn="just">
              <a:lnSpc>
                <a:spcPct val="100000"/>
              </a:lnSpc>
              <a:spcBef>
                <a:spcPts val="1020"/>
              </a:spcBef>
              <a:buFont typeface="Arial" panose="020B0604020202020204"/>
              <a:buChar char="•"/>
              <a:tabLst>
                <a:tab pos="2628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entering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sz="2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</a:t>
            </a:r>
            <a:r>
              <a:rPr sz="22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 during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lectures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890" indent="-250190" algn="just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628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2200" spc="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</a:t>
            </a:r>
            <a:r>
              <a:rPr sz="2200" spc="-25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890" indent="-250190" algn="just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6289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classrooms</a:t>
            </a:r>
            <a:r>
              <a:rPr sz="2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438400" y="1143000"/>
            <a:ext cx="5293359" cy="522605"/>
          </a:xfrm>
        </p:spPr>
        <p:txBody>
          <a:bodyPr/>
          <a:lstStyle/>
          <a:p>
            <a:pPr algn="ctr"/>
            <a:r>
              <a:rPr lang="en-US" alt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54126" y="2441396"/>
            <a:ext cx="8542274" cy="2207895"/>
          </a:xfrm>
        </p:spPr>
        <p:txBody>
          <a:bodyPr/>
          <a:lstStyle/>
          <a:p>
            <a:pPr marL="200025" marR="6985" indent="-187960" algn="l">
              <a:lnSpc>
                <a:spcPts val="2500"/>
              </a:lnSpc>
              <a:spcBef>
                <a:spcPts val="395"/>
              </a:spcBef>
              <a:buFont typeface="Arial" panose="020B0604020202020204"/>
              <a:buChar char="•"/>
              <a:tabLst>
                <a:tab pos="201295" algn="l"/>
              </a:tabLst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200" spc="-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GB" sz="2200" spc="-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GB" sz="2200" spc="-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200" spc="-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</a:t>
            </a:r>
            <a:r>
              <a:rPr lang="en-GB" sz="2200" spc="-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</a:t>
            </a:r>
            <a:r>
              <a:rPr lang="en-GB" sz="2200" spc="-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lang="en-GB" sz="2200" spc="-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GB" sz="2200" spc="-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GB" sz="2200" spc="-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GB" sz="2200" spc="-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	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025" indent="-186690" algn="l">
              <a:lnSpc>
                <a:spcPct val="100000"/>
              </a:lnSpc>
              <a:spcBef>
                <a:spcPts val="460"/>
              </a:spcBef>
              <a:buFont typeface="Arial" panose="020B0604020202020204"/>
              <a:buChar char="•"/>
              <a:tabLst>
                <a:tab pos="200025" algn="l"/>
              </a:tabLst>
            </a:pPr>
            <a:r>
              <a:rPr lang="en-GB" sz="2200" spc="-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-1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GB" sz="2200" spc="-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n-GB" sz="2200" spc="-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door</a:t>
            </a:r>
            <a:r>
              <a:rPr lang="en-GB" sz="2200" spc="-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sz="2200" spc="-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GB" sz="2200" spc="-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200" spc="-7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RTC</a:t>
            </a:r>
            <a:r>
              <a:rPr lang="en-GB" sz="2200" spc="-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025" indent="-186690" algn="l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00025" algn="l"/>
              </a:tabLst>
            </a:pPr>
            <a:r>
              <a:rPr lang="en-GB" sz="22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-13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</a:t>
            </a:r>
            <a:r>
              <a:rPr lang="en-GB" sz="2200" spc="-114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lang="en-GB" sz="2200" spc="-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GB" sz="2200" spc="-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200" spc="-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  <a:r>
              <a:rPr lang="en-GB" sz="2200" spc="-7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0025" indent="-186690" algn="l">
              <a:lnSpc>
                <a:spcPct val="10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00025" algn="l"/>
              </a:tabLst>
            </a:pPr>
            <a:r>
              <a:rPr lang="en-GB" sz="2200" spc="-6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200" spc="-1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GB" sz="2200" spc="-8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200" spc="-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low-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GB" sz="2200" spc="-4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200" spc="-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lang="en-GB" sz="2200" spc="-6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GB" sz="2200" spc="-5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381000"/>
            <a:ext cx="571500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300" b="1" spc="-40" smtClean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lang="en-GB" sz="3300" b="1" spc="-40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4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GB" sz="3300" b="1" spc="-10" dirty="0" smtClean="0">
                <a:latin typeface="Times New Roman" panose="02020603050405020304"/>
                <a:cs typeface="Times New Roman" panose="02020603050405020304"/>
              </a:rPr>
              <a:t>REV</a:t>
            </a:r>
            <a:r>
              <a:rPr lang="en-US" altLang="en-GB" sz="3300" b="1" spc="-10" dirty="0" smtClean="0">
                <a:latin typeface="Times New Roman" panose="02020603050405020304"/>
                <a:cs typeface="Times New Roman" panose="02020603050405020304"/>
              </a:rPr>
              <a:t>IEW</a:t>
            </a:r>
            <a:endParaRPr lang="en-US" altLang="en-GB" sz="3300" b="1" spc="-10" dirty="0" smtClean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4806" y="1541272"/>
          <a:ext cx="9773917" cy="47903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175"/>
                <a:gridCol w="2031364"/>
                <a:gridCol w="748029"/>
                <a:gridCol w="2698749"/>
                <a:gridCol w="2768600"/>
              </a:tblGrid>
              <a:tr h="3117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50" b="1" spc="-10" dirty="0">
                          <a:latin typeface="Times New Roman" panose="02020603050405020304"/>
                          <a:cs typeface="Times New Roman" panose="02020603050405020304"/>
                        </a:rPr>
                        <a:t>Author(s)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50" b="1" spc="-10" dirty="0">
                          <a:latin typeface="Times New Roman" panose="02020603050405020304"/>
                          <a:cs typeface="Times New Roman" panose="02020603050405020304"/>
                        </a:rPr>
                        <a:t>Title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GB" sz="1650" b="1" spc="-20" dirty="0" smtClean="0">
                          <a:latin typeface="Times New Roman" panose="02020603050405020304"/>
                          <a:cs typeface="Times New Roman" panose="02020603050405020304"/>
                        </a:rPr>
                        <a:t>Y</a:t>
                      </a:r>
                      <a:r>
                        <a:rPr sz="1650" b="1" spc="-20" smtClean="0">
                          <a:latin typeface="Times New Roman" panose="02020603050405020304"/>
                          <a:cs typeface="Times New Roman" panose="02020603050405020304"/>
                        </a:rPr>
                        <a:t>ear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50" b="1" spc="-10" dirty="0">
                          <a:latin typeface="Times New Roman" panose="02020603050405020304"/>
                          <a:cs typeface="Times New Roman" panose="02020603050405020304"/>
                        </a:rPr>
                        <a:t>Merits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650" b="1" spc="-10" dirty="0">
                          <a:latin typeface="Times New Roman" panose="02020603050405020304"/>
                          <a:cs typeface="Times New Roman" panose="02020603050405020304"/>
                        </a:rPr>
                        <a:t>Demerits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23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lang="en-GB" sz="1650" dirty="0" smtClean="0">
                          <a:latin typeface="Times New Roman" panose="02020603050405020304"/>
                          <a:cs typeface="Times New Roman" panose="02020603050405020304"/>
                        </a:rPr>
                        <a:t>1)</a:t>
                      </a:r>
                      <a:r>
                        <a:rPr lang="en-GB" sz="1650" baseline="0" dirty="0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mtClean="0">
                          <a:latin typeface="Times New Roman" panose="02020603050405020304"/>
                          <a:cs typeface="Times New Roman" panose="02020603050405020304"/>
                        </a:rPr>
                        <a:t>Fabro</a:t>
                      </a:r>
                      <a:r>
                        <a:rPr sz="1650" spc="-70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et</a:t>
                      </a:r>
                      <a:r>
                        <a:rPr sz="165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al.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3685" marR="260350" algn="ctr">
                        <a:lnSpc>
                          <a:spcPct val="100000"/>
                        </a:lnSpc>
                      </a:pP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Motion-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Activated Automatic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Door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System</a:t>
                      </a:r>
                      <a:r>
                        <a:rPr sz="165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(Arduino)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2026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2460" indent="-125095" algn="just">
                        <a:lnSpc>
                          <a:spcPts val="1960"/>
                        </a:lnSpc>
                        <a:buChar char="•"/>
                        <a:tabLst>
                          <a:tab pos="632460" algn="l"/>
                        </a:tabLst>
                      </a:pPr>
                      <a:r>
                        <a:rPr sz="1650">
                          <a:latin typeface="Times New Roman" panose="02020603050405020304"/>
                          <a:cs typeface="Times New Roman" panose="02020603050405020304"/>
                        </a:rPr>
                        <a:t>Fast</a:t>
                      </a:r>
                      <a:r>
                        <a:rPr sz="1650" spc="-65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mtClean="0">
                          <a:latin typeface="Times New Roman" panose="02020603050405020304"/>
                          <a:cs typeface="Times New Roman" panose="02020603050405020304"/>
                        </a:rPr>
                        <a:t>response</a:t>
                      </a:r>
                      <a:r>
                        <a:rPr sz="1650" spc="-75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endParaRPr sz="1650" smtClean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94030" marR="384175" indent="-125095" algn="just">
                        <a:lnSpc>
                          <a:spcPct val="100000"/>
                        </a:lnSpc>
                        <a:buChar char="•"/>
                        <a:tabLst>
                          <a:tab pos="87693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Reliable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 sensor-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based 	automation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64820" indent="-125095" algn="just">
                        <a:lnSpc>
                          <a:spcPct val="100000"/>
                        </a:lnSpc>
                        <a:buChar char="•"/>
                        <a:tabLst>
                          <a:tab pos="464820" algn="l"/>
                        </a:tabLst>
                      </a:pPr>
                      <a:r>
                        <a:rPr sz="1650" spc="-25" smtClean="0">
                          <a:latin typeface="Times New Roman" panose="02020603050405020304"/>
                          <a:cs typeface="Times New Roman" panose="02020603050405020304"/>
                        </a:rPr>
                        <a:t>Low-</a:t>
                      </a:r>
                      <a:r>
                        <a:rPr sz="1650" smtClean="0">
                          <a:latin typeface="Times New Roman" panose="02020603050405020304"/>
                          <a:cs typeface="Times New Roman" panose="02020603050405020304"/>
                        </a:rPr>
                        <a:t>cost</a:t>
                      </a:r>
                      <a:r>
                        <a:rPr sz="1650" spc="-40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165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efficient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23875" lvl="1" indent="-125095" algn="just">
                        <a:lnSpc>
                          <a:spcPct val="100000"/>
                        </a:lnSpc>
                        <a:buChar char="•"/>
                        <a:tabLst>
                          <a:tab pos="52387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Easy</a:t>
                      </a:r>
                      <a:r>
                        <a:rPr sz="1650" spc="-9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implementation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 indent="-125095">
                        <a:lnSpc>
                          <a:spcPct val="100000"/>
                        </a:lnSpc>
                        <a:spcBef>
                          <a:spcPts val="95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Only</a:t>
                      </a:r>
                      <a:r>
                        <a:rPr sz="165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motion-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control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37185" indent="-125095">
                        <a:lnSpc>
                          <a:spcPct val="100000"/>
                        </a:lnSpc>
                        <a:buChar char="•"/>
                        <a:tabLst>
                          <a:tab pos="33718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r>
                        <a:rPr sz="165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30" dirty="0">
                          <a:latin typeface="Times New Roman" panose="02020603050405020304"/>
                          <a:cs typeface="Times New Roman" panose="02020603050405020304"/>
                        </a:rPr>
                        <a:t>time-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650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automation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39725" marR="224790" indent="-125095">
                        <a:lnSpc>
                          <a:spcPct val="100000"/>
                        </a:lnSpc>
                        <a:buChar char="•"/>
                        <a:tabLst>
                          <a:tab pos="640080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650" spc="-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suitable</a:t>
                      </a:r>
                      <a:r>
                        <a:rPr sz="165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65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classroom 	timetable</a:t>
                      </a:r>
                      <a:r>
                        <a:rPr sz="165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systems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1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235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59765" marR="149860" indent="-516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lang="en-GB" sz="1650" spc="-10" dirty="0" smtClean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59765" marR="149860" indent="-516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GB" sz="1650" spc="-10" dirty="0" smtClean="0">
                          <a:latin typeface="Times New Roman" panose="02020603050405020304"/>
                          <a:cs typeface="Times New Roman" panose="02020603050405020304"/>
                        </a:rPr>
                        <a:t>2)</a:t>
                      </a:r>
                      <a:r>
                        <a:rPr sz="1650" spc="-10" smtClean="0">
                          <a:latin typeface="Times New Roman" panose="02020603050405020304"/>
                          <a:cs typeface="Times New Roman" panose="02020603050405020304"/>
                        </a:rPr>
                        <a:t>Jeyalakshmi</a:t>
                      </a:r>
                      <a:r>
                        <a:rPr sz="1650" spc="-65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et al.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6695" marR="212725" indent="635" algn="ctr">
                        <a:lnSpc>
                          <a:spcPct val="100000"/>
                        </a:lnSpc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PIR</a:t>
                      </a:r>
                      <a:r>
                        <a:rPr sz="1650" spc="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Sensor-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Based Secured</a:t>
                      </a:r>
                      <a:r>
                        <a:rPr sz="165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Automatic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Door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Opener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2024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0" marR="325755" indent="-125095" algn="just">
                        <a:lnSpc>
                          <a:spcPts val="1980"/>
                        </a:lnSpc>
                        <a:spcBef>
                          <a:spcPts val="45"/>
                        </a:spcBef>
                        <a:buNone/>
                        <a:tabLst>
                          <a:tab pos="636905" algn="l"/>
                        </a:tabLst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64160" marR="152400" indent="-125095" algn="just">
                        <a:lnSpc>
                          <a:spcPts val="1980"/>
                        </a:lnSpc>
                        <a:buChar char="•"/>
                        <a:tabLst>
                          <a:tab pos="96456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65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PIR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sensor</a:t>
                      </a:r>
                      <a:r>
                        <a:rPr sz="165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human 	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detection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55575" indent="-125095" algn="just">
                        <a:lnSpc>
                          <a:spcPts val="1915"/>
                        </a:lnSpc>
                        <a:buChar char="•"/>
                        <a:tabLst>
                          <a:tab pos="155575" algn="l"/>
                        </a:tabLst>
                      </a:pP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Microcontroller-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650" spc="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control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09550" marR="104775" lvl="1" indent="-125095" algn="just">
                        <a:lnSpc>
                          <a:spcPct val="100000"/>
                        </a:lnSpc>
                        <a:buChar char="•"/>
                        <a:tabLst>
                          <a:tab pos="1132205" algn="l"/>
                        </a:tabLst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Suitable</a:t>
                      </a:r>
                      <a:r>
                        <a:rPr sz="1650" spc="-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65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restricted</a:t>
                      </a:r>
                      <a:r>
                        <a:rPr sz="165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access 	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areas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 marR="205105" indent="-125095">
                        <a:lnSpc>
                          <a:spcPct val="100000"/>
                        </a:lnSpc>
                        <a:buNone/>
                        <a:tabLst>
                          <a:tab pos="1170940" algn="l"/>
                        </a:tabLst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80975" marR="68580" indent="-125095">
                        <a:lnSpc>
                          <a:spcPct val="100000"/>
                        </a:lnSpc>
                        <a:buChar char="•"/>
                        <a:tabLst>
                          <a:tab pos="1018540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Not</a:t>
                      </a:r>
                      <a:r>
                        <a:rPr sz="1650" spc="-1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fully</a:t>
                      </a:r>
                      <a:r>
                        <a:rPr sz="165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automated</a:t>
                      </a:r>
                      <a:r>
                        <a:rPr sz="165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165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time 	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schedule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14655" lvl="1" indent="-125095">
                        <a:lnSpc>
                          <a:spcPct val="100000"/>
                        </a:lnSpc>
                        <a:buChar char="•"/>
                        <a:tabLst>
                          <a:tab pos="41465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Slight</a:t>
                      </a:r>
                      <a:r>
                        <a:rPr sz="1650" spc="-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delay</a:t>
                      </a:r>
                      <a:r>
                        <a:rPr sz="165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165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operation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lang="en-GB" sz="1650" dirty="0" smtClean="0">
                          <a:latin typeface="Times New Roman" panose="02020603050405020304"/>
                          <a:cs typeface="Times New Roman" panose="02020603050405020304"/>
                        </a:rPr>
                        <a:t>3) </a:t>
                      </a:r>
                      <a:r>
                        <a:rPr sz="1650" smtClean="0">
                          <a:latin typeface="Times New Roman" panose="02020603050405020304"/>
                          <a:cs typeface="Times New Roman" panose="02020603050405020304"/>
                        </a:rPr>
                        <a:t>Orji</a:t>
                      </a:r>
                      <a:r>
                        <a:rPr sz="1650" spc="-55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et</a:t>
                      </a:r>
                      <a:r>
                        <a:rPr sz="165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al.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45415" marR="128905" algn="ctr">
                        <a:lnSpc>
                          <a:spcPct val="100000"/>
                        </a:lnSpc>
                      </a:pP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Arduino-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1650" spc="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Door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Automation</a:t>
                      </a:r>
                      <a:r>
                        <a:rPr sz="165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Using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Ultrasonic</a:t>
                      </a:r>
                      <a:r>
                        <a:rPr sz="165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Sensor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2018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2105" indent="-125095" algn="ctr">
                        <a:lnSpc>
                          <a:spcPts val="1960"/>
                        </a:lnSpc>
                        <a:buChar char="•"/>
                        <a:tabLst>
                          <a:tab pos="332105" algn="l"/>
                        </a:tabLst>
                      </a:pP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Low-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cost</a:t>
                      </a:r>
                      <a:r>
                        <a:rPr sz="165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implementation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91185" marR="470535" lvl="1" indent="-125095" algn="ctr">
                        <a:lnSpc>
                          <a:spcPct val="100000"/>
                        </a:lnSpc>
                        <a:buChar char="•"/>
                        <a:tabLst>
                          <a:tab pos="743585" algn="l"/>
                        </a:tabLst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1650" spc="-1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Arduino</a:t>
                      </a:r>
                      <a:r>
                        <a:rPr sz="165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0" dirty="0">
                          <a:latin typeface="Times New Roman" panose="02020603050405020304"/>
                          <a:cs typeface="Times New Roman" panose="02020603050405020304"/>
                        </a:rPr>
                        <a:t>(easy 	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programming)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62560" indent="-112395" algn="ctr">
                        <a:lnSpc>
                          <a:spcPct val="100000"/>
                        </a:lnSpc>
                        <a:buChar char="•"/>
                        <a:tabLst>
                          <a:tab pos="162560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Automatic</a:t>
                      </a:r>
                      <a:r>
                        <a:rPr sz="165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opening</a:t>
                      </a:r>
                      <a:r>
                        <a:rPr sz="1650" spc="-1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165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closing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5095" marR="13970" lvl="1" indent="-125095" algn="ctr">
                        <a:lnSpc>
                          <a:spcPct val="100000"/>
                        </a:lnSpc>
                        <a:buChar char="•"/>
                        <a:tabLst>
                          <a:tab pos="12509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Reliable</a:t>
                      </a:r>
                      <a:r>
                        <a:rPr sz="165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650" spc="-1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general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3810" algn="ctr">
                        <a:lnSpc>
                          <a:spcPct val="100000"/>
                        </a:lnSpc>
                      </a:pP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automation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650" smtClean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59715" indent="-125095">
                        <a:lnSpc>
                          <a:spcPct val="100000"/>
                        </a:lnSpc>
                        <a:buChar char="•"/>
                        <a:tabLst>
                          <a:tab pos="259715" algn="l"/>
                        </a:tabLst>
                      </a:pPr>
                      <a:r>
                        <a:rPr sz="1650" smtClean="0">
                          <a:latin typeface="Times New Roman" panose="02020603050405020304"/>
                          <a:cs typeface="Times New Roman" panose="02020603050405020304"/>
                        </a:rPr>
                        <a:t>Depends</a:t>
                      </a:r>
                      <a:r>
                        <a:rPr sz="1650" spc="-70" smtClean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165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sensor</a:t>
                      </a:r>
                      <a:r>
                        <a:rPr sz="165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26085" marR="310515" lvl="1" indent="-125095">
                        <a:lnSpc>
                          <a:spcPct val="100000"/>
                        </a:lnSpc>
                        <a:buChar char="•"/>
                        <a:tabLst>
                          <a:tab pos="1088390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r>
                        <a:rPr sz="165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scheduling</a:t>
                      </a:r>
                      <a:r>
                        <a:rPr sz="165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or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timing 	control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52425" indent="-125095">
                        <a:lnSpc>
                          <a:spcPct val="100000"/>
                        </a:lnSpc>
                        <a:buChar char="•"/>
                        <a:tabLst>
                          <a:tab pos="352425" algn="l"/>
                        </a:tabLst>
                      </a:pP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Limited</a:t>
                      </a:r>
                      <a:r>
                        <a:rPr sz="165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165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10" dirty="0">
                          <a:latin typeface="Times New Roman" panose="02020603050405020304"/>
                          <a:cs typeface="Times New Roman" panose="02020603050405020304"/>
                        </a:rPr>
                        <a:t>classroom</a:t>
                      </a:r>
                      <a:r>
                        <a:rPr sz="1650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650" spc="-25" dirty="0">
                          <a:latin typeface="Times New Roman" panose="02020603050405020304"/>
                          <a:cs typeface="Times New Roman" panose="02020603050405020304"/>
                        </a:rPr>
                        <a:t>use</a:t>
                      </a:r>
                      <a:endParaRPr sz="165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09800" y="1143000"/>
            <a:ext cx="5293359" cy="1066800"/>
          </a:xfrm>
        </p:spPr>
        <p:txBody>
          <a:bodyPr/>
          <a:lstStyle/>
          <a:p>
            <a:pPr algn="ctr"/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1000" y="2514600"/>
            <a:ext cx="2667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RTC MODULE</a:t>
            </a:r>
            <a:endParaRPr lang="en-GB" dirty="0"/>
          </a:p>
        </p:txBody>
      </p:sp>
      <p:sp>
        <p:nvSpPr>
          <p:cNvPr id="18" name="Right Arrow 17"/>
          <p:cNvSpPr/>
          <p:nvPr/>
        </p:nvSpPr>
        <p:spPr>
          <a:xfrm>
            <a:off x="3048000" y="2743200"/>
            <a:ext cx="838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3886200" y="2514600"/>
            <a:ext cx="2590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ARDUINO UNO</a:t>
            </a:r>
            <a:endParaRPr lang="en-GB" dirty="0"/>
          </a:p>
        </p:txBody>
      </p:sp>
      <p:sp>
        <p:nvSpPr>
          <p:cNvPr id="20" name="Right Arrow 19"/>
          <p:cNvSpPr/>
          <p:nvPr/>
        </p:nvSpPr>
        <p:spPr>
          <a:xfrm>
            <a:off x="6477000" y="2819400"/>
            <a:ext cx="838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SERVO MOTOR</a:t>
            </a:r>
            <a:endParaRPr lang="en-GB" dirty="0" smtClean="0"/>
          </a:p>
        </p:txBody>
      </p:sp>
      <p:sp>
        <p:nvSpPr>
          <p:cNvPr id="22" name="Rectangle 21"/>
          <p:cNvSpPr/>
          <p:nvPr/>
        </p:nvSpPr>
        <p:spPr>
          <a:xfrm>
            <a:off x="381000" y="4419600"/>
            <a:ext cx="2667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POWER SUPPLY</a:t>
            </a:r>
            <a:endParaRPr lang="en-GB" dirty="0"/>
          </a:p>
        </p:txBody>
      </p:sp>
      <p:sp>
        <p:nvSpPr>
          <p:cNvPr id="23" name="Up Arrow 22"/>
          <p:cNvSpPr/>
          <p:nvPr/>
        </p:nvSpPr>
        <p:spPr>
          <a:xfrm>
            <a:off x="1524000" y="3429000"/>
            <a:ext cx="304800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7467600" y="4343400"/>
            <a:ext cx="2286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CLASSROOM DOOR</a:t>
            </a:r>
            <a:endParaRPr lang="en-GB" dirty="0" smtClean="0"/>
          </a:p>
          <a:p>
            <a:pPr algn="ctr"/>
            <a:r>
              <a:rPr lang="en-GB" dirty="0" smtClean="0"/>
              <a:t>OPEN/CLOSE</a:t>
            </a:r>
            <a:endParaRPr lang="en-GB" dirty="0"/>
          </a:p>
        </p:txBody>
      </p:sp>
      <p:sp>
        <p:nvSpPr>
          <p:cNvPr id="26" name="Down Arrow 25"/>
          <p:cNvSpPr/>
          <p:nvPr/>
        </p:nvSpPr>
        <p:spPr>
          <a:xfrm>
            <a:off x="8382000" y="3429000"/>
            <a:ext cx="304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1"/>
            <a:ext cx="10058400" cy="523220"/>
          </a:xfrm>
        </p:spPr>
        <p:txBody>
          <a:bodyPr/>
          <a:lstStyle/>
          <a:p>
            <a:pPr algn="ctr"/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 REQUIRED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33600"/>
            <a:ext cx="4700905" cy="4401205"/>
          </a:xfrm>
        </p:spPr>
        <p:txBody>
          <a:bodyPr/>
          <a:lstStyle/>
          <a:p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(5V)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R3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RTC Module (DS3231)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Servomotor (SG90)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6000" y="914400"/>
            <a:ext cx="5293359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6845">
              <a:lnSpc>
                <a:spcPct val="100000"/>
              </a:lnSpc>
              <a:spcBef>
                <a:spcPts val="100"/>
              </a:spcBef>
            </a:pPr>
            <a:r>
              <a:rPr sz="34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sz="3400" b="1" spc="-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2133600"/>
            <a:ext cx="2932430" cy="3836307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67970" indent="-255270" algn="l">
              <a:lnSpc>
                <a:spcPct val="150000"/>
              </a:lnSpc>
              <a:spcBef>
                <a:spcPts val="395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sz="2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Discipline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305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2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z="2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2200" spc="-10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Effort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2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3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Enhances</a:t>
            </a:r>
            <a:r>
              <a:rPr sz="2200" spc="-13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990600"/>
            <a:ext cx="5293359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7320" algn="just">
              <a:lnSpc>
                <a:spcPct val="100000"/>
              </a:lnSpc>
              <a:spcBef>
                <a:spcPts val="100"/>
              </a:spcBef>
            </a:pPr>
            <a:r>
              <a:rPr sz="3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LIMITIATIONS</a:t>
            </a:r>
            <a:endParaRPr sz="3400" b="1" spc="-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2133600"/>
            <a:ext cx="3752850" cy="235192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9390" indent="-186690" algn="l">
              <a:lnSpc>
                <a:spcPct val="15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</a:t>
            </a: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200" spc="-6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sz="2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600"/>
              </a:spcBef>
              <a:tabLst>
                <a:tab pos="267970" algn="l"/>
              </a:tabLst>
            </a:pP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600"/>
              </a:spcBef>
              <a:tabLst>
                <a:tab pos="267970" algn="l"/>
              </a:tabLst>
            </a:pP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1143000"/>
            <a:ext cx="10058400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400" b="1" spc="-8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GB" sz="3400" b="1" spc="-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143000" y="2057400"/>
            <a:ext cx="4700905" cy="35204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9390" indent="-186690" algn="l">
              <a:lnSpc>
                <a:spcPct val="15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sz="2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Halls</a:t>
            </a:r>
            <a:endParaRPr sz="22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Laboratories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7970" indent="-255270" algn="l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267970" algn="l"/>
              </a:tabLst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9390" indent="-186690" algn="l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2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Coaching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Institutes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indent="0" algn="l">
              <a:lnSpc>
                <a:spcPct val="150000"/>
              </a:lnSpc>
              <a:spcBef>
                <a:spcPts val="600"/>
              </a:spcBef>
              <a:buFont typeface="Arial" panose="020B0604020202020204"/>
              <a:buNone/>
              <a:tabLst>
                <a:tab pos="267970" algn="l"/>
              </a:tabLst>
            </a:pPr>
            <a:endParaRPr sz="22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71600"/>
            <a:ext cx="10058400" cy="523220"/>
          </a:xfrm>
        </p:spPr>
        <p:txBody>
          <a:bodyPr/>
          <a:lstStyle/>
          <a:p>
            <a:pPr algn="ctr"/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126" y="2895600"/>
            <a:ext cx="8770874" cy="199362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GB" dirty="0" smtClean="0"/>
              <a:t>                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automatic classroom door control system using time scheduling was successfully implemented.the system automatically opens and closes the classroom door according to the programmed schedule, demonstrating reliable and efficient time – based automation.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50161"/>
            <a:ext cx="10058400" cy="523220"/>
          </a:xfrm>
        </p:spPr>
        <p:txBody>
          <a:bodyPr/>
          <a:lstStyle/>
          <a:p>
            <a:pPr algn="ctr"/>
            <a:r>
              <a:rPr lang="en-GB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GB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126" y="2895600"/>
            <a:ext cx="7246874" cy="3015184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RFID access control 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integration 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 – based monitoring 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authentication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Attendence management system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0" y="1066800"/>
            <a:ext cx="3084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smtClean="0">
                <a:latin typeface="Times New Roman" panose="02020603050405020304"/>
                <a:cs typeface="Times New Roman" panose="02020603050405020304"/>
              </a:rPr>
              <a:t>REFERENCE</a:t>
            </a:r>
            <a:endParaRPr b="1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1905000"/>
            <a:ext cx="9829800" cy="3201774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1650" dirty="0" smtClean="0">
                <a:latin typeface="Tahoma" panose="020B0604030504040204"/>
                <a:cs typeface="Tahoma" panose="020B0604030504040204"/>
              </a:rPr>
              <a:t>[</a:t>
            </a: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1]</a:t>
            </a:r>
            <a:r>
              <a:rPr lang="en-GB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Rancang</a:t>
            </a: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Bangun Prototype Automatic Door Lock Menggunakan Modul RTC Berbasis Arduino (2023)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jurnalfti.unmer.ac.id⁠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Automatic Door Opening and Closing System Using Arduino (2021)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journals.ijramt.com⁠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Arduino-Based Automatic Door Opener Design Using Ultrasonic Sensors (2026)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journalcenter.org⁠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Automatic Door Control System Using SMS Gateway Based on Arduino Uno (2018)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295" marR="5080" indent="-189230">
              <a:lnSpc>
                <a:spcPts val="1780"/>
              </a:lnSpc>
              <a:spcBef>
                <a:spcPts val="325"/>
              </a:spcBef>
              <a:tabLst>
                <a:tab pos="201295" algn="l"/>
              </a:tabLst>
            </a:pPr>
            <a:r>
              <a:rPr lang="en-GB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sciencepubco.com⁠</a:t>
            </a:r>
            <a:endParaRPr lang="en-GB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 panose="02020603050405020304"/>
                <a:cs typeface="Times New Roman" panose="02020603050405020304"/>
              </a:rPr>
              <a:t>EXPECTED</a:t>
            </a:r>
            <a:r>
              <a:rPr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-10" dirty="0">
                <a:latin typeface="Times New Roman" panose="02020603050405020304"/>
                <a:cs typeface="Times New Roman" panose="02020603050405020304"/>
              </a:rPr>
              <a:t>OUTCOMES</a:t>
            </a:r>
            <a:endParaRPr b="1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4126" y="2444190"/>
            <a:ext cx="4912995" cy="238751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99390" indent="-186690">
              <a:lnSpc>
                <a:spcPct val="150000"/>
              </a:lnSpc>
              <a:spcBef>
                <a:spcPts val="7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300" dirty="0">
                <a:latin typeface="Calibri" panose="020F0502020204030204"/>
                <a:cs typeface="Calibri" panose="020F0502020204030204"/>
              </a:rPr>
              <a:t>Accurate</a:t>
            </a:r>
            <a:r>
              <a:rPr sz="2300" spc="-105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Calibri" panose="020F0502020204030204"/>
                <a:cs typeface="Calibri" panose="020F0502020204030204"/>
              </a:rPr>
              <a:t>door</a:t>
            </a:r>
            <a:r>
              <a:rPr sz="2300" spc="-110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Calibri" panose="020F0502020204030204"/>
                <a:cs typeface="Calibri" panose="020F0502020204030204"/>
              </a:rPr>
              <a:t>automation:</a:t>
            </a:r>
            <a:r>
              <a:rPr sz="23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3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25" dirty="0">
                <a:latin typeface="Calibri" panose="020F0502020204030204"/>
                <a:cs typeface="Calibri" panose="020F0502020204030204"/>
              </a:rPr>
              <a:t>90–</a:t>
            </a:r>
            <a:r>
              <a:rPr sz="2300" spc="-20" dirty="0">
                <a:latin typeface="Calibri" panose="020F0502020204030204"/>
                <a:cs typeface="Calibri" panose="020F0502020204030204"/>
              </a:rPr>
              <a:t>100%</a:t>
            </a:r>
            <a:endParaRPr sz="2300">
              <a:latin typeface="Calibri" panose="020F0502020204030204"/>
              <a:cs typeface="Calibri" panose="020F0502020204030204"/>
            </a:endParaRPr>
          </a:p>
          <a:p>
            <a:pPr marL="199390" indent="-186690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300" spc="-10" dirty="0">
                <a:latin typeface="Calibri" panose="020F0502020204030204"/>
                <a:cs typeface="Calibri" panose="020F0502020204030204"/>
              </a:rPr>
              <a:t>Reduction</a:t>
            </a:r>
            <a:r>
              <a:rPr sz="23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Calibri" panose="020F0502020204030204"/>
                <a:cs typeface="Calibri" panose="020F0502020204030204"/>
              </a:rPr>
              <a:t>in</a:t>
            </a:r>
            <a:r>
              <a:rPr sz="23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Calibri" panose="020F0502020204030204"/>
                <a:cs typeface="Calibri" panose="020F0502020204030204"/>
              </a:rPr>
              <a:t>manual</a:t>
            </a:r>
            <a:r>
              <a:rPr sz="23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Calibri" panose="020F0502020204030204"/>
                <a:cs typeface="Calibri" panose="020F0502020204030204"/>
              </a:rPr>
              <a:t>effort:</a:t>
            </a:r>
            <a:r>
              <a:rPr sz="23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3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25" dirty="0">
                <a:latin typeface="Calibri" panose="020F0502020204030204"/>
                <a:cs typeface="Calibri" panose="020F0502020204030204"/>
              </a:rPr>
              <a:t>70–</a:t>
            </a:r>
            <a:r>
              <a:rPr sz="2300" spc="-20" dirty="0">
                <a:latin typeface="Calibri" panose="020F0502020204030204"/>
                <a:cs typeface="Calibri" panose="020F0502020204030204"/>
              </a:rPr>
              <a:t>90%.</a:t>
            </a:r>
            <a:endParaRPr sz="2300">
              <a:latin typeface="Calibri" panose="020F0502020204030204"/>
              <a:cs typeface="Calibri" panose="020F0502020204030204"/>
            </a:endParaRPr>
          </a:p>
          <a:p>
            <a:pPr marL="199390" indent="-186690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300" spc="-10" dirty="0">
                <a:latin typeface="Calibri" panose="020F0502020204030204"/>
                <a:cs typeface="Calibri" panose="020F0502020204030204"/>
              </a:rPr>
              <a:t>Improved</a:t>
            </a:r>
            <a:r>
              <a:rPr sz="23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3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spc="-10" dirty="0">
                <a:latin typeface="Calibri" panose="020F0502020204030204"/>
                <a:cs typeface="Calibri" panose="020F0502020204030204"/>
              </a:rPr>
              <a:t>management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3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3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25" dirty="0">
                <a:latin typeface="Calibri" panose="020F0502020204030204"/>
                <a:cs typeface="Calibri" panose="020F0502020204030204"/>
              </a:rPr>
              <a:t>50–80%</a:t>
            </a:r>
            <a:endParaRPr sz="2300">
              <a:latin typeface="Calibri" panose="020F0502020204030204"/>
              <a:cs typeface="Calibri" panose="020F0502020204030204"/>
            </a:endParaRPr>
          </a:p>
          <a:p>
            <a:pPr marL="199390" indent="-186690">
              <a:lnSpc>
                <a:spcPct val="150000"/>
              </a:lnSpc>
              <a:spcBef>
                <a:spcPts val="600"/>
              </a:spcBef>
              <a:buFont typeface="Arial" panose="020B0604020202020204"/>
              <a:buChar char="•"/>
              <a:tabLst>
                <a:tab pos="199390" algn="l"/>
              </a:tabLst>
            </a:pPr>
            <a:r>
              <a:rPr sz="2300" dirty="0">
                <a:latin typeface="Calibri" panose="020F0502020204030204"/>
                <a:cs typeface="Calibri" panose="020F0502020204030204"/>
              </a:rPr>
              <a:t>Energy</a:t>
            </a:r>
            <a:r>
              <a:rPr sz="23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300" spc="-10" dirty="0">
                <a:latin typeface="Calibri" panose="020F0502020204030204"/>
                <a:cs typeface="Calibri" panose="020F0502020204030204"/>
              </a:rPr>
              <a:t>efficiency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3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~</a:t>
            </a:r>
            <a:r>
              <a:rPr sz="23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300" spc="-10" dirty="0">
                <a:latin typeface="Calibri" panose="020F0502020204030204"/>
                <a:cs typeface="Calibri" panose="020F0502020204030204"/>
              </a:rPr>
              <a:t>0–</a:t>
            </a:r>
            <a:r>
              <a:rPr sz="2300" spc="-25" dirty="0">
                <a:latin typeface="Calibri" panose="020F0502020204030204"/>
                <a:cs typeface="Calibri" panose="020F0502020204030204"/>
              </a:rPr>
              <a:t>40%</a:t>
            </a:r>
            <a:endParaRPr sz="23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38270" y="3378453"/>
            <a:ext cx="2204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25" dirty="0">
                <a:latin typeface="Calibri" panose="020F0502020204030204"/>
                <a:cs typeface="Calibri" panose="020F0502020204030204"/>
              </a:rPr>
              <a:t>THANK</a:t>
            </a:r>
            <a:r>
              <a:rPr b="1" spc="-175" dirty="0">
                <a:latin typeface="Calibri" panose="020F0502020204030204"/>
                <a:cs typeface="Calibri" panose="020F0502020204030204"/>
              </a:rPr>
              <a:t> </a:t>
            </a:r>
            <a:r>
              <a:rPr b="1" spc="-30" dirty="0">
                <a:latin typeface="Calibri" panose="020F0502020204030204"/>
                <a:cs typeface="Calibri" panose="020F0502020204030204"/>
              </a:rPr>
              <a:t>YOU</a:t>
            </a:r>
            <a:endParaRPr b="1" spc="-3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4134</Words>
  <Application>WPS Presentation</Application>
  <PresentationFormat>Custom</PresentationFormat>
  <Paragraphs>226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Times New Roman</vt:lpstr>
      <vt:lpstr>Times New Roman</vt:lpstr>
      <vt:lpstr>Arial</vt:lpstr>
      <vt:lpstr>Tahoma</vt:lpstr>
      <vt:lpstr>Microsoft YaHei</vt:lpstr>
      <vt:lpstr>Arial Unicode MS</vt:lpstr>
      <vt:lpstr>Office Theme</vt:lpstr>
      <vt:lpstr>GOVERNMENT	ENGINEERING COLLEGE HUVINAHADAGALI-583219</vt:lpstr>
      <vt:lpstr>MICROCONTROLLER - BASED AUTOMATIC CLASSROOM DOOR CONTROL SYSTEM USING TIME SCHEDULING</vt:lpstr>
      <vt:lpstr>CONTENTS</vt:lpstr>
      <vt:lpstr>INTRODUCTION</vt:lpstr>
      <vt:lpstr>PROBLEM  STATEMENT</vt:lpstr>
      <vt:lpstr>OBJECTIVES</vt:lpstr>
      <vt:lpstr>LITERATURE  REVIEW</vt:lpstr>
      <vt:lpstr>METHODOLOGY</vt:lpstr>
      <vt:lpstr>COMPONENTS  REQUIRED</vt:lpstr>
      <vt:lpstr>ADVANTAGES</vt:lpstr>
      <vt:lpstr>LIMITIATIONS</vt:lpstr>
      <vt:lpstr>APPLICATIONS</vt:lpstr>
      <vt:lpstr>RESULT</vt:lpstr>
      <vt:lpstr>FUTURE SCOPE</vt:lpstr>
      <vt:lpstr>REFERENCE</vt:lpstr>
      <vt:lpstr>EXPECTED OUTCOMES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ppt</dc:title>
  <dc:creator>raghavendra athani</dc:creator>
  <cp:lastModifiedBy>Bhagya</cp:lastModifiedBy>
  <cp:revision>46</cp:revision>
  <dcterms:created xsi:type="dcterms:W3CDTF">2026-05-30T12:37:00Z</dcterms:created>
  <dcterms:modified xsi:type="dcterms:W3CDTF">2026-06-03T08:44:23Z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2026-05-30T11:00:00Z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2026-05-30T11:00:00Z</vt:filetime>
  </property>
  <property fmtid="{D5CDD505-2E9C-101B-9397-08002B2CF9AE}" pid="5" name="Producer">
    <vt:lpwstr>Adobe PDF Services</vt:lpwstr>
  </property>
  <property fmtid="{D5CDD505-2E9C-101B-9397-08002B2CF9AE}" pid="6" name="ICV">
    <vt:lpwstr>378C7AC267FB412E8B98F91B17D22D6F_13</vt:lpwstr>
  </property>
  <property fmtid="{D5CDD505-2E9C-101B-9397-08002B2CF9AE}" pid="7" name="KSOProductBuildVer">
    <vt:lpwstr>1033-12.1.0.26372</vt:lpwstr>
  </property>
</Properties>
</file>